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11D48"/>
                </a:solidFill>
                <a:latin typeface="Segoe UI"/>
              </a:defRPr>
            </a:pPr>
            <a:r>
              <a:t>JOHNSON &amp; JOHNSON INNOVATIVE MEDICINE • COMMERCIAL ONCOLOGY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Knowledge-Graph Conditioned Next-Question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How Neo4j Graph Ontology &amp; Live Subgraphs Eliminate Hallucinations and Dynamically Ground the SLM in Call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365760"/>
            <a:ext cx="288036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0">
                <a:solidFill>
                  <a:srgbClr val="0EA5E9"/>
                </a:solidFill>
              </a:rPr>
              <a:t>117 Nodes  •  352 Edges  •  8 Personas
</a:t>
            </a:r>
            <a:r>
              <a:rPr b="1" sz="950">
                <a:solidFill>
                  <a:srgbClr val="10B981"/>
                </a:solidFill>
              </a:rPr>
              <a:t>100% Policy Fidelity  •  &lt;300ms SLM TTFT
</a:t>
            </a:r>
            <a:r>
              <a:rPr sz="850">
                <a:solidFill>
                  <a:srgbClr val="94A3B8"/>
                </a:solidFill>
              </a:rPr>
              <a:t>Zero Redundant Inquiries  •  Account Aware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72768"/>
            <a:ext cx="2084831" cy="3611880"/>
          </a:xfrm>
          <a:prstGeom prst="roundRect">
            <a:avLst/>
          </a:prstGeom>
          <a:solidFill>
            <a:srgbClr val="131F38"/>
          </a:solidFill>
          <a:ln w="15240">
            <a:solidFill>
              <a:srgbClr val="2D4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1645920"/>
            <a:ext cx="1938527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901951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0EA5E9"/>
                </a:solidFill>
                <a:latin typeface="Segoe UI"/>
              </a:defRPr>
            </a:pPr>
            <a:r>
              <a:t>STAGE 1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Rep Input &amp; NLU Normalization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Multi-Modal Utterance
</a:t>
            </a:r>
            <a:r>
              <a:rPr sz="800">
                <a:solidFill>
                  <a:srgbClr val="E2E8F0"/>
                </a:solidFill>
                <a:latin typeface="Segoe UI"/>
              </a:rPr>
              <a:t>Voice transcription or chat text from field specialist (OS / FRM).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Entity Normalization
</a:t>
            </a:r>
            <a:r>
              <a:rPr sz="800">
                <a:solidFill>
                  <a:srgbClr val="E2E8F0"/>
                </a:solidFill>
                <a:latin typeface="Segoe UI"/>
              </a:rPr>
              <a:t>Resolves Doctor ('Dr. Anurag'), Brand ('INLEXZO'), Account ('Apollo Hospitals').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Dialogue State Tracker
</a:t>
            </a:r>
            <a:r>
              <a:rPr sz="800">
                <a:solidFill>
                  <a:srgbClr val="E2E8F0"/>
                </a:solidFill>
                <a:latin typeface="Segoe UI"/>
              </a:rPr>
              <a:t>Maintains multi-turn context, accumulated slots, and turn progression.</a:t>
            </a:r>
          </a:p>
          <a:p>
            <a:pPr>
              <a:spcBef>
                <a:spcPts val="800"/>
              </a:spcBef>
            </a:pPr>
            <a:r>
              <a:rPr sz="750" i="1">
                <a:solidFill>
                  <a:srgbClr val="0EA5E9"/>
                </a:solidFill>
                <a:latin typeface="Segoe UI"/>
              </a:rPr>
              <a:t>🏷️ Input: 'Met Dr Anurag at Apollo...'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60903" y="3268980"/>
            <a:ext cx="109728" cy="219456"/>
          </a:xfrm>
          <a:prstGeom prst="rightArrow">
            <a:avLst/>
          </a:prstGeom>
          <a:solidFill>
            <a:srgbClr val="5E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98063" y="1572768"/>
            <a:ext cx="2084831" cy="3611880"/>
          </a:xfrm>
          <a:prstGeom prst="roundRect">
            <a:avLst/>
          </a:prstGeom>
          <a:solidFill>
            <a:srgbClr val="131F38"/>
          </a:solidFill>
          <a:ln w="15240">
            <a:solidFill>
              <a:srgbClr val="2D4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1215" y="1645920"/>
            <a:ext cx="1938527" cy="45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9503" y="1737360"/>
            <a:ext cx="1901951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E11D48"/>
                </a:solidFill>
                <a:latin typeface="Segoe UI"/>
              </a:defRPr>
            </a:pPr>
            <a:r>
              <a:t>STAGE 2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Deterministic Policy Gatekeeper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PHI / PII Redaction
</a:t>
            </a:r>
            <a:r>
              <a:rPr sz="800">
                <a:solidFill>
                  <a:srgbClr val="E2E8F0"/>
                </a:solidFill>
                <a:latin typeface="Segoe UI"/>
              </a:rPr>
              <a:t>100% privacy firewall strips patient identifiers before model exposure.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Toxicity Control
</a:t>
            </a:r>
            <a:r>
              <a:rPr sz="800">
                <a:solidFill>
                  <a:srgbClr val="E2E8F0"/>
                </a:solidFill>
                <a:latin typeface="Segoe UI"/>
              </a:rPr>
              <a:t>Auto-normalizes 'toxicity' to 'safety concerns' per J&amp;J compliance.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Hard Role Boundary
</a:t>
            </a:r>
            <a:r>
              <a:rPr sz="800">
                <a:solidFill>
                  <a:srgbClr val="E2E8F0"/>
                </a:solidFill>
                <a:latin typeface="Segoe UI"/>
              </a:rPr>
              <a:t>Neo4j check: FRM blocked from clinical trial efficacy; OS blocked from pricing.</a:t>
            </a:r>
          </a:p>
          <a:p>
            <a:pPr>
              <a:spcBef>
                <a:spcPts val="800"/>
              </a:spcBef>
            </a:pPr>
            <a:r>
              <a:rPr sz="750" i="1">
                <a:solidFill>
                  <a:srgbClr val="E11D48"/>
                </a:solidFill>
                <a:latin typeface="Segoe UI"/>
              </a:rPr>
              <a:t>🏷️ Result: 100% Regulatory Guardrail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10326" y="3268980"/>
            <a:ext cx="109728" cy="219456"/>
          </a:xfrm>
          <a:prstGeom prst="rightArrow">
            <a:avLst/>
          </a:prstGeom>
          <a:solidFill>
            <a:srgbClr val="5E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47486" y="1572768"/>
            <a:ext cx="2084831" cy="3611880"/>
          </a:xfrm>
          <a:prstGeom prst="roundRect">
            <a:avLst/>
          </a:prstGeom>
          <a:solidFill>
            <a:srgbClr val="131F38"/>
          </a:solidFill>
          <a:ln w="15240">
            <a:solidFill>
              <a:srgbClr val="2D4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38" y="1645920"/>
            <a:ext cx="1938527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6" y="1737360"/>
            <a:ext cx="1901951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59E0B"/>
                </a:solidFill>
                <a:latin typeface="Segoe UI"/>
              </a:defRPr>
            </a:pPr>
            <a:r>
              <a:t>STAGE 3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Knowledge Graph Dynamic Context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Dynamic Traversal
</a:t>
            </a:r>
            <a:r>
              <a:rPr sz="800">
                <a:solidFill>
                  <a:srgbClr val="E2E8F0"/>
                </a:solidFill>
                <a:latin typeface="Segoe UI"/>
              </a:rPr>
              <a:t>Compares Covered Topics vs Role Roadmap -&gt; targets next unaddressed duty.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Anti-Repetition Engine
</a:t>
            </a:r>
            <a:r>
              <a:rPr sz="800">
                <a:solidFill>
                  <a:srgbClr val="E2E8F0"/>
                </a:solidFill>
                <a:latin typeface="Segoe UI"/>
              </a:rPr>
              <a:t>Guarantees AI never repeats questions already answered in history.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Account Barrier Intel
</a:t>
            </a:r>
            <a:r>
              <a:rPr sz="800">
                <a:solidFill>
                  <a:srgbClr val="E2E8F0"/>
                </a:solidFill>
                <a:latin typeface="Segoe UI"/>
              </a:rPr>
              <a:t>Maps historical friction (Apollo = candidate flagging / prior auth delay).</a:t>
            </a:r>
          </a:p>
          <a:p>
            <a:pPr>
              <a:spcBef>
                <a:spcPts val="800"/>
              </a:spcBef>
            </a:pPr>
            <a:r>
              <a:rPr sz="750" i="1">
                <a:solidFill>
                  <a:srgbClr val="F59E0B"/>
                </a:solidFill>
                <a:latin typeface="Segoe UI"/>
              </a:rPr>
              <a:t>🏷️ Dual-Case: Rep Ask vs Proactive Probe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59749" y="3268980"/>
            <a:ext cx="109728" cy="219456"/>
          </a:xfrm>
          <a:prstGeom prst="rightArrow">
            <a:avLst/>
          </a:prstGeom>
          <a:solidFill>
            <a:srgbClr val="5E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96909" y="1572768"/>
            <a:ext cx="2084831" cy="3611880"/>
          </a:xfrm>
          <a:prstGeom prst="roundRect">
            <a:avLst/>
          </a:prstGeom>
          <a:solidFill>
            <a:srgbClr val="131F38"/>
          </a:solidFill>
          <a:ln w="15240">
            <a:solidFill>
              <a:srgbClr val="2D4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70061" y="1645920"/>
            <a:ext cx="1938527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49" y="1737360"/>
            <a:ext cx="1901951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10B981"/>
                </a:solidFill>
                <a:latin typeface="Segoe UI"/>
              </a:defRPr>
            </a:pPr>
            <a:r>
              <a:t>STAGE 4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Live Entity-Rel Subgraph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Turn Subgraph Synth
</a:t>
            </a:r>
            <a:r>
              <a:rPr sz="800">
                <a:solidFill>
                  <a:srgbClr val="E2E8F0"/>
                </a:solidFill>
                <a:latin typeface="Segoe UI"/>
              </a:rPr>
              <a:t>Materializes active graph: Rep -&gt; Account -&gt; HCP -&gt; Brand -&gt; Barrier.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Relationship Mapping
</a:t>
            </a:r>
            <a:r>
              <a:rPr sz="800">
                <a:solidFill>
                  <a:srgbClr val="E2E8F0"/>
                </a:solidFill>
                <a:latin typeface="Segoe UI"/>
              </a:rPr>
              <a:t>Validates connections between clinical status, access pathways &amp; actions.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Audit &amp; Visual Trace
</a:t>
            </a:r>
            <a:r>
              <a:rPr sz="800">
                <a:solidFill>
                  <a:srgbClr val="E2E8F0"/>
                </a:solidFill>
                <a:latin typeface="Segoe UI"/>
              </a:rPr>
              <a:t>Generates Mermaid ER diagram for instant compliance explainability.</a:t>
            </a:r>
          </a:p>
          <a:p>
            <a:pPr>
              <a:spcBef>
                <a:spcPts val="800"/>
              </a:spcBef>
            </a:pPr>
            <a:r>
              <a:rPr sz="750" i="1">
                <a:solidFill>
                  <a:srgbClr val="10B981"/>
                </a:solidFill>
                <a:latin typeface="Segoe UI"/>
              </a:rPr>
              <a:t>🏷️ Live Subgraph: 8 Typed Active Nodes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09172" y="3268980"/>
            <a:ext cx="109728" cy="219456"/>
          </a:xfrm>
          <a:prstGeom prst="rightArrow">
            <a:avLst/>
          </a:prstGeom>
          <a:solidFill>
            <a:srgbClr val="5E7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46332" y="1572768"/>
            <a:ext cx="2084831" cy="3611880"/>
          </a:xfrm>
          <a:prstGeom prst="roundRect">
            <a:avLst/>
          </a:prstGeom>
          <a:solidFill>
            <a:srgbClr val="131F38"/>
          </a:solidFill>
          <a:ln w="15240">
            <a:solidFill>
              <a:srgbClr val="2D4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9484" y="1645920"/>
            <a:ext cx="1938527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2" y="1737360"/>
            <a:ext cx="1901951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A855F7"/>
                </a:solidFill>
                <a:latin typeface="Segoe UI"/>
              </a:defRPr>
            </a:pPr>
            <a:r>
              <a:t>STAGE 5</a:t>
            </a:r>
          </a:p>
          <a:p>
            <a:pPr>
              <a:spcAft>
                <a:spcPts val="10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Flat Prompt &amp; SLM Generation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Flat Prompt Format
</a:t>
            </a:r>
            <a:r>
              <a:rPr sz="800">
                <a:solidFill>
                  <a:srgbClr val="E2E8F0"/>
                </a:solidFill>
                <a:latin typeface="Segoe UI"/>
              </a:rPr>
              <a:t>Serializes Role, Brand, Contact, Barrier, Target Topic &amp; Transcript.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Fine-Tuned SLM
</a:t>
            </a:r>
            <a:r>
              <a:rPr sz="800">
                <a:solidFill>
                  <a:srgbClr val="E2E8F0"/>
                </a:solidFill>
                <a:latin typeface="Segoe UI"/>
              </a:rPr>
              <a:t>Merged Llama-3.2-1B served via vLLM with PagedAttention engine.</a:t>
            </a:r>
          </a:p>
          <a:p>
            <a:pPr>
              <a:spcAft>
                <a:spcPts val="700"/>
              </a:spcAft>
            </a:pPr>
            <a:r>
              <a:rPr sz="850" b="1">
                <a:solidFill>
                  <a:srgbClr val="38BDF8"/>
                </a:solidFill>
                <a:latin typeface="Segoe UI"/>
              </a:rPr>
              <a:t>▸ Next Question Output
</a:t>
            </a:r>
            <a:r>
              <a:rPr sz="800">
                <a:solidFill>
                  <a:srgbClr val="E2E8F0"/>
                </a:solidFill>
                <a:latin typeface="Segoe UI"/>
              </a:rPr>
              <a:t>Emits single, clinically grounded, highly specific next question (&lt;300ms).</a:t>
            </a:r>
          </a:p>
          <a:p>
            <a:pPr>
              <a:spcBef>
                <a:spcPts val="800"/>
              </a:spcBef>
            </a:pPr>
            <a:r>
              <a:rPr sz="750" i="1">
                <a:solidFill>
                  <a:srgbClr val="A855F7"/>
                </a:solidFill>
                <a:latin typeface="Segoe UI"/>
              </a:rPr>
              <a:t>🏷️ Output: 'What was the main discussion?'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21808"/>
            <a:ext cx="11094415" cy="1234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41324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EF4444"/>
                </a:solidFill>
              </a:defRPr>
            </a:pPr>
            <a:r>
              <a:t>⚠️ THE PROBLEM: NAIVE RAG / PURE LLMS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Confuses role boundaries (OS asks about pricing; FRM discusses clinical trials).</a:t>
            </a:r>
            <a:br/>
            <a:r>
              <a:t>• Hallucinates questions for information already shared by the rep in Turn 1.</a:t>
            </a:r>
            <a:br/>
            <a:r>
              <a:t>• Oblivious to historical institutional friction at target hospital systems.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6316539520" y="541324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EA5E9"/>
                </a:solidFill>
              </a:defRPr>
            </a:pPr>
            <a:r>
              <a:t>🧠 THE SOLUTION: KNOWLEDGE GRAPH GROUNDING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Deterministic Neo4j Ontology: 44 duties, 13 exclusions, and compliance rules.</a:t>
            </a:r>
            <a:br/>
            <a:r>
              <a:t>• Dynamic Topic Traversal: Selects next unaddressed clinical duty sequentially.</a:t>
            </a:r>
            <a:br/>
            <a:r>
              <a:t>• Account Intelligence: Proactively injects account-specific friction inquiries.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632347520" y="541324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10B981"/>
                </a:solidFill>
              </a:defRPr>
            </a:pPr>
            <a:r>
              <a:t>🚀 ENTERPRISE BUSINESS &amp; AUDIT VALUE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100% Policy Verbatim Fidelity: Zero off-label or out-of-scope infractions.</a:t>
            </a:r>
            <a:br/>
            <a:r>
              <a:t>• Sub-300ms Inference TTFT: Seamless real-time voice interview speed.</a:t>
            </a:r>
            <a:br/>
            <a:r>
              <a:t>• Live Audit Subgraph: Dynamic Mermaid graph generated for every turn.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